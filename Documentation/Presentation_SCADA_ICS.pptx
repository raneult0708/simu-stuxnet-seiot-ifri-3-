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F8D6-6E09-4F63-A2AE-B82E45C55B7D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4930-47F0-44B5-A675-B953C73700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3146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F8D6-6E09-4F63-A2AE-B82E45C55B7D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4930-47F0-44B5-A675-B953C73700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8318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F8D6-6E09-4F63-A2AE-B82E45C55B7D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4930-47F0-44B5-A675-B953C73700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1424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F8D6-6E09-4F63-A2AE-B82E45C55B7D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4930-47F0-44B5-A675-B953C73700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8848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F8D6-6E09-4F63-A2AE-B82E45C55B7D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4930-47F0-44B5-A675-B953C73700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5860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F8D6-6E09-4F63-A2AE-B82E45C55B7D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4930-47F0-44B5-A675-B953C73700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958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F8D6-6E09-4F63-A2AE-B82E45C55B7D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4930-47F0-44B5-A675-B953C73700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086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F8D6-6E09-4F63-A2AE-B82E45C55B7D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4930-47F0-44B5-A675-B953C73700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549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F8D6-6E09-4F63-A2AE-B82E45C55B7D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4930-47F0-44B5-A675-B953C73700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244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F8D6-6E09-4F63-A2AE-B82E45C55B7D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4930-47F0-44B5-A675-B953C73700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3254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F8D6-6E09-4F63-A2AE-B82E45C55B7D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4930-47F0-44B5-A675-B953C73700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186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8F8D6-6E09-4F63-A2AE-B82E45C55B7D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E4930-47F0-44B5-A675-B953C73700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686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C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609600" y="1905000"/>
            <a:ext cx="109728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4000" b="1" smtClean="0">
                <a:solidFill>
                  <a:srgbClr val="FFFFFF"/>
                </a:solidFill>
                <a:latin typeface="Cambria" panose="02040503050406030204" pitchFamily="18" charset="0"/>
              </a:rPr>
              <a:t>Supervision SCADA et sonde IDS sous LabVIEW</a:t>
            </a:r>
            <a:endParaRPr lang="fr-FR" sz="40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609600" y="2895600"/>
            <a:ext cx="109728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2000" smtClean="0">
                <a:solidFill>
                  <a:srgbClr val="CFE9EA"/>
                </a:solidFill>
                <a:latin typeface="Calibri" panose="020F0502020204030204" pitchFamily="34" charset="0"/>
              </a:rPr>
              <a:t>Projet centrifugeuse ICS — simulation d'une attaque de type Stuxnet</a:t>
            </a:r>
            <a:endParaRPr lang="fr-FR" sz="2000">
              <a:solidFill>
                <a:srgbClr val="CFE9EA"/>
              </a:solidFill>
              <a:latin typeface="Calibri" panose="020F0502020204030204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609600" y="5334000"/>
            <a:ext cx="10972800" cy="5129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500" smtClean="0">
                <a:solidFill>
                  <a:srgbClr val="B5DCDD"/>
                </a:solidFill>
                <a:latin typeface="Calibri" panose="020F0502020204030204" pitchFamily="34" charset="0"/>
              </a:rPr>
              <a:t>Étudiant 2 : ingénieur SCADA
Banc de laboratoire isolé — Arduino, L298N, moteur DC, capteur IR</a:t>
            </a:r>
            <a:endParaRPr lang="fr-FR" sz="1500">
              <a:solidFill>
                <a:srgbClr val="B5DCDD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793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609600" y="4318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3200" b="1" smtClean="0">
                <a:solidFill>
                  <a:srgbClr val="1F2D2E"/>
                </a:solidFill>
                <a:latin typeface="Cambria" panose="02040503050406030204" pitchFamily="18" charset="0"/>
              </a:rPr>
              <a:t>Le SCADA est la deuxième ligne de défense</a:t>
            </a:r>
            <a:endParaRPr lang="fr-FR" sz="3200" b="1">
              <a:solidFill>
                <a:srgbClr val="1F2D2E"/>
              </a:solidFill>
              <a:latin typeface="Cambria" panose="02040503050406030204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609600" y="1168400"/>
            <a:ext cx="109728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smtClean="0">
                <a:solidFill>
                  <a:srgbClr val="5C6B6C"/>
                </a:solidFill>
                <a:latin typeface="Calibri" panose="020F0502020204030204" pitchFamily="34" charset="0"/>
              </a:rPr>
              <a:t>L'automate pilote le moteur ; le SCADA observe ce qu'il déclare et doit repérer quand ces déclarations ne sont plus crédibles.</a:t>
            </a:r>
            <a:endParaRPr lang="fr-FR" sz="1600">
              <a:solidFill>
                <a:srgbClr val="5C6B6C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609600" y="2159000"/>
            <a:ext cx="2571750" cy="2667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812800" y="2362200"/>
            <a:ext cx="7620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4000" b="1" smtClean="0">
                <a:solidFill>
                  <a:srgbClr val="00979D"/>
                </a:solidFill>
                <a:latin typeface="Cambria" panose="02040503050406030204" pitchFamily="18" charset="0"/>
              </a:rPr>
              <a:t>1</a:t>
            </a:r>
            <a:endParaRPr lang="fr-FR" sz="4000" b="1">
              <a:solidFill>
                <a:srgbClr val="00979D"/>
              </a:solidFill>
              <a:latin typeface="Cambria" panose="02040503050406030204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812800" y="3124200"/>
            <a:ext cx="216535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2000" b="1" smtClean="0">
                <a:solidFill>
                  <a:srgbClr val="1F2D2E"/>
                </a:solidFill>
                <a:latin typeface="Calibri" panose="020F0502020204030204" pitchFamily="34" charset="0"/>
              </a:rPr>
              <a:t>Recevoir</a:t>
            </a:r>
            <a:endParaRPr lang="fr-FR" sz="2000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812800" y="3581400"/>
            <a:ext cx="2165350" cy="6924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500" smtClean="0">
                <a:solidFill>
                  <a:srgbClr val="1F2D2E"/>
                </a:solidFill>
                <a:latin typeface="Calibri" panose="020F0502020204030204" pitchFamily="34" charset="0"/>
              </a:rPr>
              <a:t>Lire les trames série de l'Arduino sans bloquer l'interface.</a:t>
            </a:r>
            <a:endParaRPr lang="fr-FR" sz="15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3409950" y="2159000"/>
            <a:ext cx="2571750" cy="2667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3613150" y="2362200"/>
            <a:ext cx="7620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4000" b="1" smtClean="0">
                <a:solidFill>
                  <a:srgbClr val="00979D"/>
                </a:solidFill>
                <a:latin typeface="Cambria" panose="02040503050406030204" pitchFamily="18" charset="0"/>
              </a:rPr>
              <a:t>2</a:t>
            </a:r>
            <a:endParaRPr lang="fr-FR" sz="4000" b="1">
              <a:solidFill>
                <a:srgbClr val="00979D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613150" y="3124200"/>
            <a:ext cx="216535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2000" b="1" smtClean="0">
                <a:solidFill>
                  <a:srgbClr val="1F2D2E"/>
                </a:solidFill>
                <a:latin typeface="Calibri" panose="020F0502020204030204" pitchFamily="34" charset="0"/>
              </a:rPr>
              <a:t>Vérifier</a:t>
            </a:r>
            <a:endParaRPr lang="fr-FR" sz="2000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3613150" y="3581400"/>
            <a:ext cx="2165350" cy="6924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500" smtClean="0">
                <a:solidFill>
                  <a:srgbClr val="1F2D2E"/>
                </a:solidFill>
                <a:latin typeface="Calibri" panose="020F0502020204030204" pitchFamily="34" charset="0"/>
              </a:rPr>
              <a:t>Recalculer le CRC-8 de chaque trame et rejeter les trames altérées.</a:t>
            </a:r>
            <a:endParaRPr lang="fr-FR" sz="15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6210300" y="2159000"/>
            <a:ext cx="2571750" cy="2667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6413500" y="2362200"/>
            <a:ext cx="7620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4000" b="1" smtClean="0">
                <a:solidFill>
                  <a:srgbClr val="00979D"/>
                </a:solidFill>
                <a:latin typeface="Cambria" panose="02040503050406030204" pitchFamily="18" charset="0"/>
              </a:rPr>
              <a:t>3</a:t>
            </a:r>
            <a:endParaRPr lang="fr-FR" sz="4000" b="1">
              <a:solidFill>
                <a:srgbClr val="00979D"/>
              </a:solidFill>
              <a:latin typeface="Cambria" panose="02040503050406030204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413500" y="3124200"/>
            <a:ext cx="216535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2000" b="1" smtClean="0">
                <a:solidFill>
                  <a:srgbClr val="1F2D2E"/>
                </a:solidFill>
                <a:latin typeface="Calibri" panose="020F0502020204030204" pitchFamily="34" charset="0"/>
              </a:rPr>
              <a:t>Détecter</a:t>
            </a:r>
            <a:endParaRPr lang="fr-FR" sz="2000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6413500" y="3581400"/>
            <a:ext cx="2165350" cy="6924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500" smtClean="0">
                <a:solidFill>
                  <a:srgbClr val="1F2D2E"/>
                </a:solidFill>
                <a:latin typeface="Calibri" panose="020F0502020204030204" pitchFamily="34" charset="0"/>
              </a:rPr>
              <a:t>Repérer une vitesse figée alors que le moteur est censé tourner.</a:t>
            </a:r>
            <a:endParaRPr lang="fr-FR" sz="15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 à coins arrondis 15"/>
          <p:cNvSpPr/>
          <p:nvPr/>
        </p:nvSpPr>
        <p:spPr>
          <a:xfrm>
            <a:off x="9010650" y="2159000"/>
            <a:ext cx="2571750" cy="2667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/>
          <p:cNvSpPr txBox="1"/>
          <p:nvPr/>
        </p:nvSpPr>
        <p:spPr>
          <a:xfrm>
            <a:off x="9213850" y="2362200"/>
            <a:ext cx="7620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4000" b="1" smtClean="0">
                <a:solidFill>
                  <a:srgbClr val="00979D"/>
                </a:solidFill>
                <a:latin typeface="Cambria" panose="02040503050406030204" pitchFamily="18" charset="0"/>
              </a:rPr>
              <a:t>4</a:t>
            </a:r>
            <a:endParaRPr lang="fr-FR" sz="4000" b="1">
              <a:solidFill>
                <a:srgbClr val="00979D"/>
              </a:solidFill>
              <a:latin typeface="Cambria" panose="02040503050406030204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9213850" y="3124200"/>
            <a:ext cx="216535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2000" b="1" smtClean="0">
                <a:solidFill>
                  <a:srgbClr val="1F2D2E"/>
                </a:solidFill>
                <a:latin typeface="Calibri" panose="020F0502020204030204" pitchFamily="34" charset="0"/>
              </a:rPr>
              <a:t>Conserver</a:t>
            </a:r>
            <a:endParaRPr lang="fr-FR" sz="2000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9213850" y="3581400"/>
            <a:ext cx="2165350" cy="6924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500" smtClean="0">
                <a:solidFill>
                  <a:srgbClr val="1F2D2E"/>
                </a:solidFill>
                <a:latin typeface="Calibri" panose="020F0502020204030204" pitchFamily="34" charset="0"/>
              </a:rPr>
              <a:t>Journal CSV continu, et copie horodatée au moment de l'alerte.</a:t>
            </a:r>
            <a:endParaRPr lang="fr-FR" sz="15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609600" y="5207000"/>
            <a:ext cx="109728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300" smtClean="0">
                <a:solidFill>
                  <a:srgbClr val="5C6B6C"/>
                </a:solidFill>
                <a:latin typeface="Calibri" panose="020F0502020204030204" pitchFamily="34" charset="0"/>
              </a:rPr>
              <a:t>Niveau 2 du modèle de Purdue : supervision. L'attaque et l'interlock matériel sont traités par les autres membres du groupe.</a:t>
            </a:r>
            <a:endParaRPr lang="fr-FR" sz="1300">
              <a:solidFill>
                <a:srgbClr val="5C6B6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340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609600" y="4318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3200" b="1" smtClean="0">
                <a:solidFill>
                  <a:srgbClr val="1F2D2E"/>
                </a:solidFill>
                <a:latin typeface="Cambria" panose="02040503050406030204" pitchFamily="18" charset="0"/>
              </a:rPr>
              <a:t>Une trame traverse cinq étapes à chaque cycle</a:t>
            </a:r>
            <a:endParaRPr lang="fr-FR" sz="3200" b="1">
              <a:solidFill>
                <a:srgbClr val="1F2D2E"/>
              </a:solidFill>
              <a:latin typeface="Cambria" panose="02040503050406030204" pitchFamily="18" charset="0"/>
            </a:endParaRPr>
          </a:p>
        </p:txBody>
      </p:sp>
      <p:sp>
        <p:nvSpPr>
          <p:cNvPr id="3" name="Rectangle à coins arrondis 2"/>
          <p:cNvSpPr/>
          <p:nvPr/>
        </p:nvSpPr>
        <p:spPr>
          <a:xfrm>
            <a:off x="622300" y="1524000"/>
            <a:ext cx="1905000" cy="1524000"/>
          </a:xfrm>
          <a:prstGeom prst="roundRect">
            <a:avLst/>
          </a:prstGeom>
          <a:solidFill>
            <a:srgbClr val="005C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>
            <a:off x="723900" y="1701800"/>
            <a:ext cx="17018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1600" b="1" smtClean="0">
                <a:solidFill>
                  <a:srgbClr val="FFFFFF"/>
                </a:solidFill>
                <a:latin typeface="Calibri" panose="020F0502020204030204" pitchFamily="34" charset="0"/>
              </a:rPr>
              <a:t>Arduino</a:t>
            </a:r>
            <a:endParaRPr lang="fr-FR" sz="1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723900" y="2362200"/>
            <a:ext cx="1701800" cy="45140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1300" smtClean="0">
                <a:solidFill>
                  <a:srgbClr val="CFE9EA"/>
                </a:solidFill>
                <a:latin typeface="Calibri" panose="020F0502020204030204" pitchFamily="34" charset="0"/>
              </a:rPr>
              <a:t>trame toutes
les 200 ms</a:t>
            </a:r>
            <a:endParaRPr lang="fr-FR" sz="1300">
              <a:solidFill>
                <a:srgbClr val="CFE9EA"/>
              </a:solidFill>
              <a:latin typeface="Calibri" panose="020F0502020204030204" pitchFamily="34" charset="0"/>
            </a:endParaRPr>
          </a:p>
        </p:txBody>
      </p:sp>
      <p:sp>
        <p:nvSpPr>
          <p:cNvPr id="6" name="Flèche droite 5"/>
          <p:cNvSpPr/>
          <p:nvPr/>
        </p:nvSpPr>
        <p:spPr>
          <a:xfrm>
            <a:off x="2590800" y="2159000"/>
            <a:ext cx="228600" cy="254000"/>
          </a:xfrm>
          <a:prstGeom prst="rightArrow">
            <a:avLst/>
          </a:prstGeom>
          <a:solidFill>
            <a:srgbClr val="FFD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à coins arrondis 6"/>
          <p:cNvSpPr/>
          <p:nvPr/>
        </p:nvSpPr>
        <p:spPr>
          <a:xfrm>
            <a:off x="2882900" y="1524000"/>
            <a:ext cx="1905000" cy="1524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2984500" y="1701800"/>
            <a:ext cx="17018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1600" b="1" smtClean="0">
                <a:solidFill>
                  <a:srgbClr val="1F2D2E"/>
                </a:solidFill>
                <a:latin typeface="Calibri" panose="020F0502020204030204" pitchFamily="34" charset="0"/>
              </a:rPr>
              <a:t>Serial_Parser</a:t>
            </a:r>
            <a:endParaRPr lang="fr-FR" sz="1600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2984500" y="2362200"/>
            <a:ext cx="1701800" cy="45140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1300" smtClean="0">
                <a:solidFill>
                  <a:srgbClr val="5C6B6C"/>
                </a:solidFill>
                <a:latin typeface="Calibri" panose="020F0502020204030204" pitchFamily="34" charset="0"/>
              </a:rPr>
              <a:t>vitesse, état,
CRC reçu</a:t>
            </a:r>
            <a:endParaRPr lang="fr-FR" sz="1300">
              <a:solidFill>
                <a:srgbClr val="5C6B6C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Flèche droite 9"/>
          <p:cNvSpPr/>
          <p:nvPr/>
        </p:nvSpPr>
        <p:spPr>
          <a:xfrm>
            <a:off x="4851400" y="2159000"/>
            <a:ext cx="228600" cy="254000"/>
          </a:xfrm>
          <a:prstGeom prst="rightArrow">
            <a:avLst/>
          </a:prstGeom>
          <a:solidFill>
            <a:srgbClr val="FFD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5143500" y="1524000"/>
            <a:ext cx="1905000" cy="1524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5245100" y="1701800"/>
            <a:ext cx="17018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1600" b="1" smtClean="0">
                <a:solidFill>
                  <a:srgbClr val="1F2D2E"/>
                </a:solidFill>
                <a:latin typeface="Calibri" panose="020F0502020204030204" pitchFamily="34" charset="0"/>
              </a:rPr>
              <a:t>CRC_Check</a:t>
            </a:r>
            <a:endParaRPr lang="fr-FR" sz="1600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5245100" y="2362200"/>
            <a:ext cx="1701800" cy="45140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1300" smtClean="0">
                <a:solidFill>
                  <a:srgbClr val="5C6B6C"/>
                </a:solidFill>
                <a:latin typeface="Calibri" panose="020F0502020204030204" pitchFamily="34" charset="0"/>
              </a:rPr>
              <a:t>CRC-8 recalculé
et comparé</a:t>
            </a:r>
            <a:endParaRPr lang="fr-FR" sz="1300">
              <a:solidFill>
                <a:srgbClr val="5C6B6C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Flèche droite 13"/>
          <p:cNvSpPr/>
          <p:nvPr/>
        </p:nvSpPr>
        <p:spPr>
          <a:xfrm>
            <a:off x="7112000" y="2159000"/>
            <a:ext cx="228600" cy="254000"/>
          </a:xfrm>
          <a:prstGeom prst="rightArrow">
            <a:avLst/>
          </a:prstGeom>
          <a:solidFill>
            <a:srgbClr val="FFD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à coins arrondis 14"/>
          <p:cNvSpPr/>
          <p:nvPr/>
        </p:nvSpPr>
        <p:spPr>
          <a:xfrm>
            <a:off x="7404100" y="1524000"/>
            <a:ext cx="1905000" cy="1524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/>
          <p:cNvSpPr txBox="1"/>
          <p:nvPr/>
        </p:nvSpPr>
        <p:spPr>
          <a:xfrm>
            <a:off x="7505700" y="1701800"/>
            <a:ext cx="1701800" cy="54373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1600" b="1" smtClean="0">
                <a:solidFill>
                  <a:srgbClr val="1F2D2E"/>
                </a:solidFill>
                <a:latin typeface="Calibri" panose="020F0502020204030204" pitchFamily="34" charset="0"/>
              </a:rPr>
              <a:t>IDS_Freeze_
Detector</a:t>
            </a:r>
            <a:endParaRPr lang="fr-FR" sz="1600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7505700" y="2362200"/>
            <a:ext cx="1701800" cy="45140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1300" smtClean="0">
                <a:solidFill>
                  <a:srgbClr val="5C6B6C"/>
                </a:solidFill>
                <a:latin typeface="Calibri" panose="020F0502020204030204" pitchFamily="34" charset="0"/>
              </a:rPr>
              <a:t>gel du signal
sur N cycles</a:t>
            </a:r>
            <a:endParaRPr lang="fr-FR" sz="1300">
              <a:solidFill>
                <a:srgbClr val="5C6B6C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Flèche droite 17"/>
          <p:cNvSpPr/>
          <p:nvPr/>
        </p:nvSpPr>
        <p:spPr>
          <a:xfrm>
            <a:off x="9372600" y="2159000"/>
            <a:ext cx="228600" cy="254000"/>
          </a:xfrm>
          <a:prstGeom prst="rightArrow">
            <a:avLst/>
          </a:prstGeom>
          <a:solidFill>
            <a:srgbClr val="FFD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à coins arrondis 18"/>
          <p:cNvSpPr/>
          <p:nvPr/>
        </p:nvSpPr>
        <p:spPr>
          <a:xfrm>
            <a:off x="9664700" y="1524000"/>
            <a:ext cx="1905000" cy="1524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9766300" y="1701800"/>
            <a:ext cx="1701800" cy="54373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1600" b="1" smtClean="0">
                <a:solidFill>
                  <a:srgbClr val="1F2D2E"/>
                </a:solidFill>
                <a:latin typeface="Calibri" panose="020F0502020204030204" pitchFamily="34" charset="0"/>
              </a:rPr>
              <a:t>Threat_
Manager</a:t>
            </a:r>
            <a:endParaRPr lang="fr-FR" sz="1600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9766300" y="2362200"/>
            <a:ext cx="1701800" cy="45140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1300" smtClean="0">
                <a:solidFill>
                  <a:srgbClr val="5C6B6C"/>
                </a:solidFill>
                <a:latin typeface="Calibri" panose="020F0502020204030204" pitchFamily="34" charset="0"/>
              </a:rPr>
              <a:t>niveau de
menace 1 à 5</a:t>
            </a:r>
            <a:endParaRPr lang="fr-FR" sz="1300">
              <a:solidFill>
                <a:srgbClr val="5C6B6C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angle à coins arrondis 21"/>
          <p:cNvSpPr/>
          <p:nvPr/>
        </p:nvSpPr>
        <p:spPr>
          <a:xfrm>
            <a:off x="609600" y="3683000"/>
            <a:ext cx="5372100" cy="1905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787400" y="3835400"/>
            <a:ext cx="50165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b="1" smtClean="0">
                <a:solidFill>
                  <a:srgbClr val="00979D"/>
                </a:solidFill>
                <a:latin typeface="Calibri" panose="020F0502020204030204" pitchFamily="34" charset="0"/>
              </a:rPr>
              <a:t>Main_SCADA.vi</a:t>
            </a:r>
            <a:endParaRPr lang="fr-FR" sz="1600" b="1">
              <a:solidFill>
                <a:srgbClr val="00979D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787400" y="4191000"/>
            <a:ext cx="5016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Boucle principale : lecture VISA, appel des quatre sous-VI, mise à jour du tableau de bord, écriture d'une ligne CSV par trame.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ectangle à coins arrondis 24"/>
          <p:cNvSpPr/>
          <p:nvPr/>
        </p:nvSpPr>
        <p:spPr>
          <a:xfrm>
            <a:off x="6210300" y="3683000"/>
            <a:ext cx="5372100" cy="1905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/>
          <p:cNvSpPr txBox="1"/>
          <p:nvPr/>
        </p:nvSpPr>
        <p:spPr>
          <a:xfrm>
            <a:off x="6388100" y="3835400"/>
            <a:ext cx="50165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b="1" smtClean="0">
                <a:solidFill>
                  <a:srgbClr val="00979D"/>
                </a:solidFill>
                <a:latin typeface="Calibri" panose="020F0502020204030204" pitchFamily="34" charset="0"/>
              </a:rPr>
              <a:t>Forensic_Snapshot.vi</a:t>
            </a:r>
            <a:endParaRPr lang="fr-FR" sz="1600" b="1">
              <a:solidFill>
                <a:srgbClr val="00979D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6388100" y="4191000"/>
            <a:ext cx="50165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Au premier passage au niveau 5, copie le journal dans Forensics/ sous le nom Snapshot_AAAAMMJJ_HHMMSS.csv, sans jamais écraser un fichier existant.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609600" y="5842000"/>
            <a:ext cx="109728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300" smtClean="0">
                <a:solidFill>
                  <a:srgbClr val="5C6B6C"/>
                </a:solidFill>
                <a:latin typeface="Calibri" panose="020F0502020204030204" pitchFamily="34" charset="0"/>
              </a:rPr>
              <a:t>Six VI au total, chacun testé seul avant l'assemblage.</a:t>
            </a:r>
            <a:endParaRPr lang="fr-FR" sz="1300">
              <a:solidFill>
                <a:srgbClr val="5C6B6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827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609600" y="4318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3200" b="1" smtClean="0">
                <a:solidFill>
                  <a:srgbClr val="1F2D2E"/>
                </a:solidFill>
                <a:latin typeface="Cambria" panose="02040503050406030204" pitchFamily="18" charset="0"/>
              </a:rPr>
              <a:t>Chaque composant répond à un besoin précis</a:t>
            </a:r>
            <a:endParaRPr lang="fr-FR" sz="3200" b="1">
              <a:solidFill>
                <a:srgbClr val="1F2D2E"/>
              </a:solidFill>
              <a:latin typeface="Cambria" panose="02040503050406030204" pitchFamily="18" charset="0"/>
            </a:endParaRPr>
          </a:p>
        </p:txBody>
      </p:sp>
      <p:sp>
        <p:nvSpPr>
          <p:cNvPr id="3" name="Rectangle à coins arrondis 2"/>
          <p:cNvSpPr/>
          <p:nvPr/>
        </p:nvSpPr>
        <p:spPr>
          <a:xfrm>
            <a:off x="609600" y="1270000"/>
            <a:ext cx="10972800" cy="635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>
            <a:off x="812800" y="14351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b="1" smtClean="0">
                <a:solidFill>
                  <a:srgbClr val="00979D"/>
                </a:solidFill>
                <a:latin typeface="Calibri" panose="020F0502020204030204" pitchFamily="34" charset="0"/>
              </a:rPr>
              <a:t>LabVIEW</a:t>
            </a:r>
            <a:endParaRPr lang="fr-FR" sz="1600" b="1">
              <a:solidFill>
                <a:srgbClr val="00979D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860800" y="1447800"/>
            <a:ext cx="75184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Acquisition, traitement et IHM dans un seul outil ; chaque sous-VI se teste seul.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609600" y="2006600"/>
            <a:ext cx="10972800" cy="635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12800" y="21717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b="1" smtClean="0">
                <a:solidFill>
                  <a:srgbClr val="00979D"/>
                </a:solidFill>
                <a:latin typeface="Calibri" panose="020F0502020204030204" pitchFamily="34" charset="0"/>
              </a:rPr>
              <a:t>NI-VISA</a:t>
            </a:r>
            <a:endParaRPr lang="fr-FR" sz="1600" b="1">
              <a:solidFill>
                <a:srgbClr val="00979D"/>
              </a:solidFill>
              <a:latin typeface="Calibri" panose="020F0502020204030204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860800" y="2184400"/>
            <a:ext cx="75184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Interface série standard : le même code fonctionne sur un port réel ou virtuel.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609600" y="2743200"/>
            <a:ext cx="10972800" cy="635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812800" y="29083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b="1" smtClean="0">
                <a:solidFill>
                  <a:srgbClr val="00979D"/>
                </a:solidFill>
                <a:latin typeface="Calibri" panose="020F0502020204030204" pitchFamily="34" charset="0"/>
              </a:rPr>
              <a:t>Scan From String</a:t>
            </a:r>
            <a:endParaRPr lang="fr-FR" sz="1600" b="1">
              <a:solidFill>
                <a:srgbClr val="00979D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3860800" y="2921000"/>
            <a:ext cx="75184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Une seule chaîne de format décode la trame et signale une trame invalide sans plantage.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609600" y="3479800"/>
            <a:ext cx="10972800" cy="635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812800" y="36449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b="1" smtClean="0">
                <a:solidFill>
                  <a:srgbClr val="00979D"/>
                </a:solidFill>
                <a:latin typeface="Calibri" panose="020F0502020204030204" pitchFamily="34" charset="0"/>
              </a:rPr>
              <a:t>Match Pattern</a:t>
            </a:r>
            <a:endParaRPr lang="fr-FR" sz="1600" b="1">
              <a:solidFill>
                <a:srgbClr val="00979D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3860800" y="3657600"/>
            <a:ext cx="75184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Isole la charge utile entre « $ » et « * » avant le calcul du CRC.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609600" y="4216400"/>
            <a:ext cx="10972800" cy="635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/>
          <p:cNvSpPr txBox="1"/>
          <p:nvPr/>
        </p:nvSpPr>
        <p:spPr>
          <a:xfrm>
            <a:off x="812800" y="43815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b="1" smtClean="0">
                <a:solidFill>
                  <a:srgbClr val="00979D"/>
                </a:solidFill>
                <a:latin typeface="Calibri" panose="020F0502020204030204" pitchFamily="34" charset="0"/>
              </a:rPr>
              <a:t>Registres à décalage</a:t>
            </a:r>
            <a:endParaRPr lang="fr-FR" sz="1600" b="1">
              <a:solidFill>
                <a:srgbClr val="00979D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3860800" y="4394200"/>
            <a:ext cx="75184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Mémorisent la vitesse précédente et le compteur de cycles identiques.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à coins arrondis 17"/>
          <p:cNvSpPr/>
          <p:nvPr/>
        </p:nvSpPr>
        <p:spPr>
          <a:xfrm>
            <a:off x="609600" y="4953000"/>
            <a:ext cx="10972800" cy="635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812800" y="51181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b="1" smtClean="0">
                <a:solidFill>
                  <a:srgbClr val="00979D"/>
                </a:solidFill>
                <a:latin typeface="Calibri" panose="020F0502020204030204" pitchFamily="34" charset="0"/>
              </a:rPr>
              <a:t>Nœud Formule</a:t>
            </a:r>
            <a:endParaRPr lang="fr-FR" sz="1600" b="1">
              <a:solidFill>
                <a:srgbClr val="00979D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3860800" y="5130800"/>
            <a:ext cx="75184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CRC-8 et règles de menace écrits en texte : lisibles et modifiables sans recâbler.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angle à coins arrondis 20"/>
          <p:cNvSpPr/>
          <p:nvPr/>
        </p:nvSpPr>
        <p:spPr>
          <a:xfrm>
            <a:off x="609600" y="5689600"/>
            <a:ext cx="10972800" cy="635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812800" y="58547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b="1" smtClean="0">
                <a:solidFill>
                  <a:srgbClr val="00979D"/>
                </a:solidFill>
                <a:latin typeface="Calibri" panose="020F0502020204030204" pitchFamily="34" charset="0"/>
              </a:rPr>
              <a:t>Write Delimited Spreadsheet</a:t>
            </a:r>
            <a:endParaRPr lang="fr-FR" sz="1600" b="1">
              <a:solidFill>
                <a:srgbClr val="00979D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3860800" y="5867400"/>
            <a:ext cx="75184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CSV en mode ajout : lisible partout, jamais écrasé.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308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609600" y="4318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3200" b="1" smtClean="0">
                <a:solidFill>
                  <a:srgbClr val="1F2D2E"/>
                </a:solidFill>
                <a:latin typeface="Cambria" panose="02040503050406030204" pitchFamily="18" charset="0"/>
              </a:rPr>
              <a:t>L'intégrité repose sur un CRC-8 recalculé côté SCADA</a:t>
            </a:r>
            <a:endParaRPr lang="fr-FR" sz="3200" b="1">
              <a:solidFill>
                <a:srgbClr val="1F2D2E"/>
              </a:solidFill>
              <a:latin typeface="Cambria" panose="02040503050406030204" pitchFamily="18" charset="0"/>
            </a:endParaRPr>
          </a:p>
        </p:txBody>
      </p:sp>
      <p:sp>
        <p:nvSpPr>
          <p:cNvPr id="3" name="Rectangle à coins arrondis 2"/>
          <p:cNvSpPr/>
          <p:nvPr/>
        </p:nvSpPr>
        <p:spPr>
          <a:xfrm>
            <a:off x="609600" y="1270000"/>
            <a:ext cx="10972800" cy="1219200"/>
          </a:xfrm>
          <a:prstGeom prst="roundRect">
            <a:avLst/>
          </a:prstGeom>
          <a:solidFill>
            <a:srgbClr val="005C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>
            <a:off x="609600" y="1473200"/>
            <a:ext cx="109728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3600" b="1" smtClean="0">
                <a:solidFill>
                  <a:srgbClr val="FFFFFF"/>
                </a:solidFill>
                <a:latin typeface="Courier New" panose="02070309020205020404" pitchFamily="49" charset="0"/>
              </a:rPr>
              <a:t>$1000,0*50</a:t>
            </a:r>
            <a:endParaRPr lang="fr-FR" sz="3600" b="1">
              <a:solidFill>
                <a:srgbClr val="FFFFFF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609600" y="2057400"/>
            <a:ext cx="109728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1400" smtClean="0">
                <a:solidFill>
                  <a:srgbClr val="CFE9EA"/>
                </a:solidFill>
                <a:latin typeface="Calibri" panose="020F0502020204030204" pitchFamily="34" charset="0"/>
              </a:rPr>
              <a:t>vitesse en tr/min   ,   état (0 marche, 1 interlock)   *   CRC-8 en hexadécimal</a:t>
            </a:r>
            <a:endParaRPr lang="fr-FR" sz="1400">
              <a:solidFill>
                <a:srgbClr val="CFE9EA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609600" y="2794000"/>
            <a:ext cx="5372100" cy="2159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787400" y="2946400"/>
            <a:ext cx="50165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b="1" smtClean="0">
                <a:solidFill>
                  <a:srgbClr val="00979D"/>
                </a:solidFill>
                <a:latin typeface="Calibri" panose="020F0502020204030204" pitchFamily="34" charset="0"/>
              </a:rPr>
              <a:t>Le calcul</a:t>
            </a:r>
            <a:endParaRPr lang="fr-FR" sz="1600" b="1">
              <a:solidFill>
                <a:srgbClr val="00979D"/>
              </a:solidFill>
              <a:latin typeface="Calibri" panose="020F0502020204030204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787400" y="3302000"/>
            <a:ext cx="5016500" cy="6976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CRC-8, polynôme 0x07, valeur initiale 0, sur les caractères situés entre « $ » et « * ».
Identique à la fonction crc8() du programme Arduino.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6210300" y="2794000"/>
            <a:ext cx="5372100" cy="21590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6388100" y="2946400"/>
            <a:ext cx="50165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b="1" smtClean="0">
                <a:solidFill>
                  <a:srgbClr val="00979D"/>
                </a:solidFill>
                <a:latin typeface="Calibri" panose="020F0502020204030204" pitchFamily="34" charset="0"/>
              </a:rPr>
              <a:t>La vérification</a:t>
            </a:r>
            <a:endParaRPr lang="fr-FR" sz="1600" b="1">
              <a:solidFill>
                <a:srgbClr val="00979D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6388100" y="3302000"/>
            <a:ext cx="5016500" cy="6976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Trames de référence acceptées : $1000,0*50, $1000,1*57, $0,0*23, $900,0*A7.
Un seul caractère modifié suffit à faire rejeter la trame.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pic>
        <p:nvPicPr>
          <p:cNvPr id="12" name="Image 1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130800"/>
            <a:ext cx="7162800" cy="1023257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8026400" y="53340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200" smtClean="0">
                <a:solidFill>
                  <a:srgbClr val="5C6B6C"/>
                </a:solidFill>
                <a:latin typeface="Calibri" panose="020F0502020204030204" pitchFamily="34" charset="0"/>
              </a:rPr>
              <a:t>Extrait de CRC_Check.vi : le calcul est écrit en texte dans un nœud Formule.</a:t>
            </a:r>
            <a:endParaRPr lang="fr-FR" sz="1200">
              <a:solidFill>
                <a:srgbClr val="5C6B6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991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609600" y="4318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3200" b="1" smtClean="0">
                <a:solidFill>
                  <a:srgbClr val="1F2D2E"/>
                </a:solidFill>
                <a:latin typeface="Cambria" panose="02040503050406030204" pitchFamily="18" charset="0"/>
              </a:rPr>
              <a:t>La sonde IDS repère une vitesse figée</a:t>
            </a:r>
            <a:endParaRPr lang="fr-FR" sz="3200" b="1">
              <a:solidFill>
                <a:srgbClr val="1F2D2E"/>
              </a:solidFill>
              <a:latin typeface="Cambria" panose="02040503050406030204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609600" y="1219200"/>
            <a:ext cx="5334000" cy="7386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smtClean="0">
                <a:solidFill>
                  <a:srgbClr val="1F2D2E"/>
                </a:solidFill>
                <a:latin typeface="Calibri" panose="020F0502020204030204" pitchFamily="34" charset="0"/>
              </a:rPr>
              <a:t>Un moteur réel ne donne jamais exactement la même mesure d'un cycle à l'autre. Une vitesse figée pendant que l'état est « RUN » signale un capteur bloqué ou une valeur rejouée.</a:t>
            </a:r>
            <a:endParaRPr lang="fr-FR" sz="16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609600" y="2946400"/>
            <a:ext cx="5334000" cy="1524000"/>
          </a:xfrm>
          <a:prstGeom prst="roundRect">
            <a:avLst/>
          </a:prstGeom>
          <a:solidFill>
            <a:srgbClr val="005C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838200" y="3124200"/>
            <a:ext cx="4876800" cy="88742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700" b="1" smtClean="0">
                <a:solidFill>
                  <a:srgbClr val="FFFFFF"/>
                </a:solidFill>
                <a:latin typeface="Courier New" panose="02070309020205020404" pitchFamily="49" charset="0"/>
              </a:rPr>
              <a:t>DeltaRPM = | RPM(t) - RPM(t-1) |
si état = RUN et DeltaRPM ≤ seuil
pendant N cycles  →  gel détecté</a:t>
            </a:r>
            <a:endParaRPr lang="fr-FR" sz="1700" b="1">
              <a:solidFill>
                <a:srgbClr val="FFFFFF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09600" y="4673600"/>
            <a:ext cx="5334000" cy="91307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5C6B6C"/>
                </a:solidFill>
                <a:latin typeface="Calibri" panose="020F0502020204030204" pitchFamily="34" charset="0"/>
              </a:rPr>
              <a:t>Trois réglages sur le tableau de bord : nombre de cycles, seuil de variation, activation.
À l'arrêt ou en interlock, une vitesse constante est normale et ne déclenche rien.</a:t>
            </a:r>
            <a:endParaRPr lang="fr-FR" sz="1400">
              <a:solidFill>
                <a:srgbClr val="5C6B6C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Image 6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397000"/>
            <a:ext cx="5232400" cy="2441787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6350000" y="3810000"/>
            <a:ext cx="523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200" smtClean="0">
                <a:solidFill>
                  <a:srgbClr val="5C6B6C"/>
                </a:solidFill>
                <a:latin typeface="Calibri" panose="020F0502020204030204" pitchFamily="34" charset="0"/>
              </a:rPr>
              <a:t>IDS_Freeze_Detector.vi : deux registres à décalage conservent la vitesse précédente et le compteur.</a:t>
            </a:r>
            <a:endParaRPr lang="fr-FR" sz="1200">
              <a:solidFill>
                <a:srgbClr val="5C6B6C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6350000" y="4470400"/>
            <a:ext cx="5232400" cy="16002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6527800" y="4622800"/>
            <a:ext cx="48768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b="1" smtClean="0">
                <a:solidFill>
                  <a:srgbClr val="00979D"/>
                </a:solidFill>
                <a:latin typeface="Calibri" panose="020F0502020204030204" pitchFamily="34" charset="0"/>
              </a:rPr>
              <a:t>Pourquoi cette règle</a:t>
            </a:r>
            <a:endParaRPr lang="fr-FR" sz="1600" b="1">
              <a:solidFill>
                <a:srgbClr val="00979D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6527800" y="4978400"/>
            <a:ext cx="48768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L'attaque étudiée force le moteur tout en affichant une vitesse constante à 1000 tr/min : c'est exactement le symptôme recherché.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059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609600" y="4318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3200" b="1" smtClean="0">
                <a:solidFill>
                  <a:srgbClr val="1F2D2E"/>
                </a:solidFill>
                <a:latin typeface="Cambria" panose="02040503050406030204" pitchFamily="18" charset="0"/>
              </a:rPr>
              <a:t>Le niveau de menace résume l'état en un seul chiffre</a:t>
            </a:r>
            <a:endParaRPr lang="fr-FR" sz="3200" b="1">
              <a:solidFill>
                <a:srgbClr val="1F2D2E"/>
              </a:solidFill>
              <a:latin typeface="Cambria" panose="02040503050406030204" pitchFamily="18" charset="0"/>
            </a:endParaRPr>
          </a:p>
        </p:txBody>
      </p:sp>
      <p:sp>
        <p:nvSpPr>
          <p:cNvPr id="3" name="Rectangle à coins arrondis 2"/>
          <p:cNvSpPr/>
          <p:nvPr/>
        </p:nvSpPr>
        <p:spPr>
          <a:xfrm>
            <a:off x="609600" y="1320800"/>
            <a:ext cx="10972800" cy="7874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/>
          <p:cNvSpPr/>
          <p:nvPr/>
        </p:nvSpPr>
        <p:spPr>
          <a:xfrm>
            <a:off x="787400" y="1435100"/>
            <a:ext cx="558800" cy="558800"/>
          </a:xfrm>
          <a:prstGeom prst="ellipse">
            <a:avLst/>
          </a:prstGeom>
          <a:solidFill>
            <a:srgbClr val="00979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787400" y="1536700"/>
            <a:ext cx="5588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2200" b="1" smtClean="0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  <a:endParaRPr lang="fr-FR" sz="2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574800" y="1549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b="1" smtClean="0">
                <a:solidFill>
                  <a:srgbClr val="1F2D2E"/>
                </a:solidFill>
                <a:latin typeface="Calibri" panose="020F0502020204030204" pitchFamily="34" charset="0"/>
              </a:rPr>
              <a:t>Normal</a:t>
            </a:r>
            <a:endParaRPr lang="fr-FR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749800" y="1574800"/>
            <a:ext cx="6629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500" smtClean="0">
                <a:solidFill>
                  <a:srgbClr val="1F2D2E"/>
                </a:solidFill>
                <a:latin typeface="Calibri" panose="020F0502020204030204" pitchFamily="34" charset="0"/>
              </a:rPr>
              <a:t>Aucune anomalie</a:t>
            </a:r>
            <a:endParaRPr lang="fr-FR" sz="15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609600" y="2235200"/>
            <a:ext cx="10972800" cy="7874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/>
          <p:cNvSpPr/>
          <p:nvPr/>
        </p:nvSpPr>
        <p:spPr>
          <a:xfrm>
            <a:off x="787400" y="2349500"/>
            <a:ext cx="558800" cy="558800"/>
          </a:xfrm>
          <a:prstGeom prst="ellipse">
            <a:avLst/>
          </a:prstGeom>
          <a:solidFill>
            <a:srgbClr val="FFD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787400" y="2451100"/>
            <a:ext cx="5588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2200" b="1" smtClean="0">
                <a:solidFill>
                  <a:srgbClr val="1F2D2E"/>
                </a:solidFill>
                <a:latin typeface="Calibri" panose="020F0502020204030204" pitchFamily="34" charset="0"/>
              </a:rPr>
              <a:t>2</a:t>
            </a:r>
            <a:endParaRPr lang="fr-FR" sz="2200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574800" y="2463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b="1" smtClean="0">
                <a:solidFill>
                  <a:srgbClr val="1F2D2E"/>
                </a:solidFill>
                <a:latin typeface="Calibri" panose="020F0502020204030204" pitchFamily="34" charset="0"/>
              </a:rPr>
              <a:t>Anomalie légère</a:t>
            </a:r>
            <a:endParaRPr lang="fr-FR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4749800" y="2489200"/>
            <a:ext cx="6629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500" smtClean="0">
                <a:solidFill>
                  <a:srgbClr val="1F2D2E"/>
                </a:solidFill>
                <a:latin typeface="Calibri" panose="020F0502020204030204" pitchFamily="34" charset="0"/>
              </a:rPr>
              <a:t>Au moins une trame au CRC invalide</a:t>
            </a:r>
            <a:endParaRPr lang="fr-FR" sz="15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 à coins arrondis 12"/>
          <p:cNvSpPr/>
          <p:nvPr/>
        </p:nvSpPr>
        <p:spPr>
          <a:xfrm>
            <a:off x="609600" y="3149600"/>
            <a:ext cx="10972800" cy="7874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/>
          <p:cNvSpPr/>
          <p:nvPr/>
        </p:nvSpPr>
        <p:spPr>
          <a:xfrm>
            <a:off x="787400" y="3263900"/>
            <a:ext cx="558800" cy="558800"/>
          </a:xfrm>
          <a:prstGeom prst="ellipse">
            <a:avLst/>
          </a:prstGeom>
          <a:solidFill>
            <a:srgbClr val="E5AD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/>
          <p:cNvSpPr txBox="1"/>
          <p:nvPr/>
        </p:nvSpPr>
        <p:spPr>
          <a:xfrm>
            <a:off x="787400" y="3365500"/>
            <a:ext cx="5588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2200" b="1" smtClean="0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  <a:endParaRPr lang="fr-FR" sz="2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574800" y="33782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b="1" smtClean="0">
                <a:solidFill>
                  <a:srgbClr val="1F2D2E"/>
                </a:solidFill>
                <a:latin typeface="Calibri" panose="020F0502020204030204" pitchFamily="34" charset="0"/>
              </a:rPr>
              <a:t>Anomalies répétées</a:t>
            </a:r>
            <a:endParaRPr lang="fr-FR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4749800" y="3403600"/>
            <a:ext cx="6629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500" smtClean="0">
                <a:solidFill>
                  <a:srgbClr val="1F2D2E"/>
                </a:solidFill>
                <a:latin typeface="Calibri" panose="020F0502020204030204" pitchFamily="34" charset="0"/>
              </a:rPr>
              <a:t>CRC invalides consécutifs au-delà du seuil</a:t>
            </a:r>
            <a:endParaRPr lang="fr-FR" sz="15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à coins arrondis 17"/>
          <p:cNvSpPr/>
          <p:nvPr/>
        </p:nvSpPr>
        <p:spPr>
          <a:xfrm>
            <a:off x="609600" y="4064000"/>
            <a:ext cx="10972800" cy="7874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/>
          <p:cNvSpPr/>
          <p:nvPr/>
        </p:nvSpPr>
        <p:spPr>
          <a:xfrm>
            <a:off x="787400" y="4178300"/>
            <a:ext cx="558800" cy="558800"/>
          </a:xfrm>
          <a:prstGeom prst="ellipse">
            <a:avLst/>
          </a:prstGeom>
          <a:solidFill>
            <a:srgbClr val="5C6B6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787400" y="4279900"/>
            <a:ext cx="5588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2200" b="1" smtClean="0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  <a:endParaRPr lang="fr-FR" sz="2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1574800" y="42926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b="1" smtClean="0">
                <a:solidFill>
                  <a:srgbClr val="1F2D2E"/>
                </a:solidFill>
                <a:latin typeface="Calibri" panose="020F0502020204030204" pitchFamily="34" charset="0"/>
              </a:rPr>
              <a:t>Non utilisé</a:t>
            </a:r>
            <a:endParaRPr lang="fr-FR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749800" y="4318000"/>
            <a:ext cx="6629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500" smtClean="0">
                <a:solidFill>
                  <a:srgbClr val="1F2D2E"/>
                </a:solidFill>
                <a:latin typeface="Calibri" panose="020F0502020204030204" pitchFamily="34" charset="0"/>
              </a:rPr>
              <a:t>Un gel conduit directement au niveau 5</a:t>
            </a:r>
            <a:endParaRPr lang="fr-FR" sz="15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Rectangle à coins arrondis 22"/>
          <p:cNvSpPr/>
          <p:nvPr/>
        </p:nvSpPr>
        <p:spPr>
          <a:xfrm>
            <a:off x="609600" y="4978400"/>
            <a:ext cx="10972800" cy="7874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/>
          <p:cNvSpPr/>
          <p:nvPr/>
        </p:nvSpPr>
        <p:spPr>
          <a:xfrm>
            <a:off x="787400" y="5092700"/>
            <a:ext cx="558800" cy="558800"/>
          </a:xfrm>
          <a:prstGeom prst="ellipse">
            <a:avLst/>
          </a:prstGeom>
          <a:solidFill>
            <a:srgbClr val="E471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/>
          <p:cNvSpPr txBox="1"/>
          <p:nvPr/>
        </p:nvSpPr>
        <p:spPr>
          <a:xfrm>
            <a:off x="787400" y="5194300"/>
            <a:ext cx="5588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2200" b="1" smtClean="0">
                <a:solidFill>
                  <a:srgbClr val="FFFFFF"/>
                </a:solidFill>
                <a:latin typeface="Calibri" panose="020F0502020204030204" pitchFamily="34" charset="0"/>
              </a:rPr>
              <a:t>5</a:t>
            </a:r>
            <a:endParaRPr lang="fr-FR" sz="2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1574800" y="5207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b="1" smtClean="0">
                <a:solidFill>
                  <a:srgbClr val="1F2D2E"/>
                </a:solidFill>
                <a:latin typeface="Calibri" panose="020F0502020204030204" pitchFamily="34" charset="0"/>
              </a:rPr>
              <a:t>Critique</a:t>
            </a:r>
            <a:endParaRPr lang="fr-FR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4749800" y="5232400"/>
            <a:ext cx="6629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500" smtClean="0">
                <a:solidFill>
                  <a:srgbClr val="1F2D2E"/>
                </a:solidFill>
                <a:latin typeface="Calibri" panose="020F0502020204030204" pitchFamily="34" charset="0"/>
              </a:rPr>
              <a:t>Gel du signal détecté par la sonde IDS → snapshot</a:t>
            </a:r>
            <a:endParaRPr lang="fr-FR" sz="15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609600" y="6019800"/>
            <a:ext cx="109728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300" smtClean="0">
                <a:solidFill>
                  <a:srgbClr val="5C6B6C"/>
                </a:solidFill>
                <a:latin typeface="Calibri" panose="020F0502020204030204" pitchFamily="34" charset="0"/>
              </a:rPr>
              <a:t>Les règles tiennent en cinq lignes de texte dans Threat_Manager.vi.</a:t>
            </a:r>
            <a:endParaRPr lang="fr-FR" sz="1300">
              <a:solidFill>
                <a:srgbClr val="5C6B6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469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609600" y="4318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3200" b="1" smtClean="0">
                <a:solidFill>
                  <a:srgbClr val="1F2D2E"/>
                </a:solidFill>
                <a:latin typeface="Cambria" panose="02040503050406030204" pitchFamily="18" charset="0"/>
              </a:rPr>
              <a:t>Essai sur la carte réelle : la réception fonctionne</a:t>
            </a:r>
            <a:endParaRPr lang="fr-FR" sz="3200" b="1">
              <a:solidFill>
                <a:srgbClr val="1F2D2E"/>
              </a:solidFill>
              <a:latin typeface="Cambria" panose="02040503050406030204" pitchFamily="18" charset="0"/>
            </a:endParaRPr>
          </a:p>
        </p:txBody>
      </p:sp>
      <p:sp>
        <p:nvSpPr>
          <p:cNvPr id="3" name="Rectangle à coins arrondis 2"/>
          <p:cNvSpPr/>
          <p:nvPr/>
        </p:nvSpPr>
        <p:spPr>
          <a:xfrm>
            <a:off x="609600" y="1244600"/>
            <a:ext cx="2571750" cy="13208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>
            <a:off x="711200" y="1371600"/>
            <a:ext cx="2368550" cy="584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3800" b="1" smtClean="0">
                <a:solidFill>
                  <a:srgbClr val="00979D"/>
                </a:solidFill>
                <a:latin typeface="Cambria" panose="02040503050406030204" pitchFamily="18" charset="0"/>
              </a:rPr>
              <a:t>49 / 49</a:t>
            </a:r>
            <a:endParaRPr lang="fr-FR" sz="3800" b="1">
              <a:solidFill>
                <a:srgbClr val="00979D"/>
              </a:solidFill>
              <a:latin typeface="Cambria" panose="02040503050406030204" pitchFamily="18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711200" y="2082800"/>
            <a:ext cx="236855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trames au CRC valide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3409950" y="1244600"/>
            <a:ext cx="2571750" cy="13208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3511550" y="1371600"/>
            <a:ext cx="2368550" cy="584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3800" b="1" smtClean="0">
                <a:solidFill>
                  <a:srgbClr val="00979D"/>
                </a:solidFill>
                <a:latin typeface="Cambria" panose="02040503050406030204" pitchFamily="18" charset="0"/>
              </a:rPr>
              <a:t>5 / s</a:t>
            </a:r>
            <a:endParaRPr lang="fr-FR" sz="3800" b="1">
              <a:solidFill>
                <a:srgbClr val="00979D"/>
              </a:solidFill>
              <a:latin typeface="Cambria" panose="020405030504060302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511550" y="2082800"/>
            <a:ext cx="236855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cadence de réception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6210300" y="1244600"/>
            <a:ext cx="2571750" cy="13208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6311900" y="1371600"/>
            <a:ext cx="2368550" cy="584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3800" b="1" smtClean="0">
                <a:solidFill>
                  <a:srgbClr val="00979D"/>
                </a:solidFill>
                <a:latin typeface="Cambria" panose="02040503050406030204" pitchFamily="18" charset="0"/>
              </a:rPr>
              <a:t>1 s</a:t>
            </a:r>
            <a:endParaRPr lang="fr-FR" sz="3800" b="1">
              <a:solidFill>
                <a:srgbClr val="00979D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6311900" y="2082800"/>
            <a:ext cx="236855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délai de détection du gel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9010650" y="1244600"/>
            <a:ext cx="2571750" cy="13208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9112250" y="1371600"/>
            <a:ext cx="2368550" cy="584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3800" b="1" smtClean="0">
                <a:solidFill>
                  <a:srgbClr val="00979D"/>
                </a:solidFill>
                <a:latin typeface="Cambria" panose="02040503050406030204" pitchFamily="18" charset="0"/>
              </a:rPr>
              <a:t>1</a:t>
            </a:r>
            <a:endParaRPr lang="fr-FR" sz="3800" b="1">
              <a:solidFill>
                <a:srgbClr val="00979D"/>
              </a:solidFill>
              <a:latin typeface="Cambria" panose="02040503050406030204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9112250" y="2082800"/>
            <a:ext cx="236855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snapshot créé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pic>
        <p:nvPicPr>
          <p:cNvPr id="15" name="Image 14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94000"/>
            <a:ext cx="10972800" cy="2430897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609600" y="5334000"/>
            <a:ext cx="109728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300" smtClean="0">
                <a:solidFill>
                  <a:srgbClr val="5C6B6C"/>
                </a:solidFill>
                <a:latin typeface="Calibri" panose="020F0502020204030204" pitchFamily="34" charset="0"/>
              </a:rPr>
              <a:t>Tableau de bord pendant l'essai (Arduino sur COM10, 115200 bauds, 10 secondes). Le moteur était à l'arrêt : la vitesse figée à 0 en état RUN a été signalée comme un gel, menace 5, snapshot créé.</a:t>
            </a:r>
            <a:endParaRPr lang="fr-FR" sz="1300">
              <a:solidFill>
                <a:srgbClr val="5C6B6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245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609600" y="4318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3200" b="1" smtClean="0">
                <a:solidFill>
                  <a:srgbClr val="1F2D2E"/>
                </a:solidFill>
                <a:latin typeface="Cambria" panose="02040503050406030204" pitchFamily="18" charset="0"/>
              </a:rPr>
              <a:t>Ce qui n'est pas encore démontré</a:t>
            </a:r>
            <a:endParaRPr lang="fr-FR" sz="3200" b="1">
              <a:solidFill>
                <a:srgbClr val="1F2D2E"/>
              </a:solidFill>
              <a:latin typeface="Cambria" panose="02040503050406030204" pitchFamily="18" charset="0"/>
            </a:endParaRPr>
          </a:p>
        </p:txBody>
      </p:sp>
      <p:sp>
        <p:nvSpPr>
          <p:cNvPr id="3" name="Rectangle à coins arrondis 2"/>
          <p:cNvSpPr/>
          <p:nvPr/>
        </p:nvSpPr>
        <p:spPr>
          <a:xfrm>
            <a:off x="609600" y="1270000"/>
            <a:ext cx="5372100" cy="14224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>
            <a:off x="787400" y="1422400"/>
            <a:ext cx="50165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b="1" smtClean="0">
                <a:solidFill>
                  <a:srgbClr val="E47128"/>
                </a:solidFill>
                <a:latin typeface="Calibri" panose="020F0502020204030204" pitchFamily="34" charset="0"/>
              </a:rPr>
              <a:t>Décodage</a:t>
            </a:r>
            <a:endParaRPr lang="fr-FR" sz="1600" b="1">
              <a:solidFill>
                <a:srgbClr val="E47128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787400" y="1778000"/>
            <a:ext cx="5016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La trame est décodée avec Scan From String ; Match Pattern sert à isoler la charge utile pour le CRC.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6210300" y="1270000"/>
            <a:ext cx="5372100" cy="14224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6388100" y="1422400"/>
            <a:ext cx="50165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b="1" smtClean="0">
                <a:solidFill>
                  <a:srgbClr val="E47128"/>
                </a:solidFill>
                <a:latin typeface="Calibri" panose="020F0502020204030204" pitchFamily="34" charset="0"/>
              </a:rPr>
              <a:t>Attaque réelle</a:t>
            </a:r>
            <a:endParaRPr lang="fr-FR" sz="1600" b="1">
              <a:solidFill>
                <a:srgbClr val="E4712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6388100" y="1778000"/>
            <a:ext cx="5016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Le gel n'a été observé que moteur à l'arrêt. L'essai avec le script d'attaque reste à faire.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609600" y="2870200"/>
            <a:ext cx="5372100" cy="14224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787400" y="3022600"/>
            <a:ext cx="50165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b="1" smtClean="0">
                <a:solidFill>
                  <a:srgbClr val="E47128"/>
                </a:solidFill>
                <a:latin typeface="Calibri" panose="020F0502020204030204" pitchFamily="34" charset="0"/>
              </a:rPr>
              <a:t>Fausses alertes</a:t>
            </a:r>
            <a:endParaRPr lang="fr-FR" sz="1600" b="1">
              <a:solidFill>
                <a:srgbClr val="E4712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787400" y="3378200"/>
            <a:ext cx="5016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La vitesse est mesurée par pas de 100 tr/min ; 5 cycles sont trop peu en régime stable.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6210300" y="2870200"/>
            <a:ext cx="5372100" cy="14224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6388100" y="3022600"/>
            <a:ext cx="50165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b="1" smtClean="0">
                <a:solidFill>
                  <a:srgbClr val="E47128"/>
                </a:solidFill>
                <a:latin typeface="Calibri" panose="020F0502020204030204" pitchFamily="34" charset="0"/>
              </a:rPr>
              <a:t>Verrouillage du CSV</a:t>
            </a:r>
            <a:endParaRPr lang="fr-FR" sz="1600" b="1">
              <a:solidFill>
                <a:srgbClr val="E47128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388100" y="3378200"/>
            <a:ext cx="5016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Le snapshot est créé, mais le journal continue d'être écrit après l'alerte.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609600" y="4470400"/>
            <a:ext cx="5372100" cy="14224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/>
          <p:cNvSpPr txBox="1"/>
          <p:nvPr/>
        </p:nvSpPr>
        <p:spPr>
          <a:xfrm>
            <a:off x="787400" y="4622800"/>
            <a:ext cx="50165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b="1" smtClean="0">
                <a:solidFill>
                  <a:srgbClr val="E47128"/>
                </a:solidFill>
                <a:latin typeface="Calibri" panose="020F0502020204030204" pitchFamily="34" charset="0"/>
              </a:rPr>
              <a:t>Tableau de bord</a:t>
            </a:r>
            <a:endParaRPr lang="fr-FR" sz="1600" b="1">
              <a:solidFill>
                <a:srgbClr val="E47128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787400" y="4978400"/>
            <a:ext cx="5016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Fonctionnel ; indicateurs non regroupés, synoptique réduit à une ligne de texte.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à coins arrondis 17"/>
          <p:cNvSpPr/>
          <p:nvPr/>
        </p:nvSpPr>
        <p:spPr>
          <a:xfrm>
            <a:off x="6210300" y="4470400"/>
            <a:ext cx="5372100" cy="1422400"/>
          </a:xfrm>
          <a:prstGeom prst="roundRect">
            <a:avLst/>
          </a:prstGeom>
          <a:solidFill>
            <a:srgbClr val="E6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6388100" y="4622800"/>
            <a:ext cx="50165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600" b="1" smtClean="0">
                <a:solidFill>
                  <a:srgbClr val="E47128"/>
                </a:solidFill>
                <a:latin typeface="Calibri" panose="020F0502020204030204" pitchFamily="34" charset="0"/>
              </a:rPr>
              <a:t>Mesures parasites</a:t>
            </a:r>
            <a:endParaRPr lang="fr-FR" sz="1600" b="1">
              <a:solidFill>
                <a:srgbClr val="E47128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6388100" y="4978400"/>
            <a:ext cx="5016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400" smtClean="0">
                <a:solidFill>
                  <a:srgbClr val="1F2D2E"/>
                </a:solidFill>
                <a:latin typeface="Calibri" panose="020F0502020204030204" pitchFamily="34" charset="0"/>
              </a:rPr>
              <a:t>Quelques vitesses aberrantes reçues avec un CRC valide : bruit sur le capteur IR.</a:t>
            </a:r>
            <a:endParaRPr lang="fr-FR" sz="1400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204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C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609600" y="431800"/>
            <a:ext cx="1097280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3200" b="1" smtClean="0">
                <a:solidFill>
                  <a:srgbClr val="FFFFFF"/>
                </a:solidFill>
                <a:latin typeface="Cambria" panose="02040503050406030204" pitchFamily="18" charset="0"/>
              </a:rPr>
              <a:t>Prochaines étapes</a:t>
            </a:r>
            <a:endParaRPr lang="fr-FR" sz="32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3" name="Ellipse 2"/>
          <p:cNvSpPr/>
          <p:nvPr/>
        </p:nvSpPr>
        <p:spPr>
          <a:xfrm>
            <a:off x="609600" y="1498600"/>
            <a:ext cx="508000" cy="508000"/>
          </a:xfrm>
          <a:prstGeom prst="ellipse">
            <a:avLst/>
          </a:prstGeom>
          <a:solidFill>
            <a:srgbClr val="FFD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>
            <a:off x="609600" y="15875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b="1" smtClean="0">
                <a:solidFill>
                  <a:srgbClr val="1F2D2E"/>
                </a:solidFill>
                <a:latin typeface="Calibri" panose="020F0502020204030204" pitchFamily="34" charset="0"/>
              </a:rPr>
              <a:t>1</a:t>
            </a:r>
            <a:endParaRPr lang="fr-FR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346200" y="1600200"/>
            <a:ext cx="10236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700" smtClean="0">
                <a:solidFill>
                  <a:srgbClr val="FFFFFF"/>
                </a:solidFill>
                <a:latin typeface="Calibri" panose="020F0502020204030204" pitchFamily="34" charset="0"/>
              </a:rPr>
              <a:t>Insérer le script d'attaque entre l'Arduino et LabVIEW au moyen d'une paire de ports série virtuels.</a:t>
            </a:r>
            <a:endParaRPr lang="fr-FR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Ellipse 5"/>
          <p:cNvSpPr/>
          <p:nvPr/>
        </p:nvSpPr>
        <p:spPr>
          <a:xfrm>
            <a:off x="609600" y="2362200"/>
            <a:ext cx="508000" cy="508000"/>
          </a:xfrm>
          <a:prstGeom prst="ellipse">
            <a:avLst/>
          </a:prstGeom>
          <a:solidFill>
            <a:srgbClr val="FFD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609600" y="24511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b="1" smtClean="0">
                <a:solidFill>
                  <a:srgbClr val="1F2D2E"/>
                </a:solidFill>
                <a:latin typeface="Calibri" panose="020F0502020204030204" pitchFamily="34" charset="0"/>
              </a:rPr>
              <a:t>2</a:t>
            </a:r>
            <a:endParaRPr lang="fr-FR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346200" y="2463800"/>
            <a:ext cx="10236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700" smtClean="0">
                <a:solidFill>
                  <a:srgbClr val="FFFFFF"/>
                </a:solidFill>
                <a:latin typeface="Calibri" panose="020F0502020204030204" pitchFamily="34" charset="0"/>
              </a:rPr>
              <a:t>Rejouer l'essai moteur en marche, puis sous attaque, et relever le délai de détection.</a:t>
            </a:r>
            <a:endParaRPr lang="fr-FR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Ellipse 8"/>
          <p:cNvSpPr/>
          <p:nvPr/>
        </p:nvSpPr>
        <p:spPr>
          <a:xfrm>
            <a:off x="609600" y="3225800"/>
            <a:ext cx="508000" cy="508000"/>
          </a:xfrm>
          <a:prstGeom prst="ellipse">
            <a:avLst/>
          </a:prstGeom>
          <a:solidFill>
            <a:srgbClr val="FFD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609600" y="33147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b="1" smtClean="0">
                <a:solidFill>
                  <a:srgbClr val="1F2D2E"/>
                </a:solidFill>
                <a:latin typeface="Calibri" panose="020F0502020204030204" pitchFamily="34" charset="0"/>
              </a:rPr>
              <a:t>3</a:t>
            </a:r>
            <a:endParaRPr lang="fr-FR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346200" y="3327400"/>
            <a:ext cx="10236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700" smtClean="0">
                <a:solidFill>
                  <a:srgbClr val="FFFFFF"/>
                </a:solidFill>
                <a:latin typeface="Calibri" panose="020F0502020204030204" pitchFamily="34" charset="0"/>
              </a:rPr>
              <a:t>Régler le nombre de cycles de la sonde pour supprimer les fausses alertes.</a:t>
            </a:r>
            <a:endParaRPr lang="fr-FR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609600" y="4089400"/>
            <a:ext cx="508000" cy="508000"/>
          </a:xfrm>
          <a:prstGeom prst="ellipse">
            <a:avLst/>
          </a:prstGeom>
          <a:solidFill>
            <a:srgbClr val="FFD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609600" y="41783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b="1" smtClean="0">
                <a:solidFill>
                  <a:srgbClr val="1F2D2E"/>
                </a:solidFill>
                <a:latin typeface="Calibri" panose="020F0502020204030204" pitchFamily="34" charset="0"/>
              </a:rPr>
              <a:t>4</a:t>
            </a:r>
            <a:endParaRPr lang="fr-FR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1346200" y="4191000"/>
            <a:ext cx="10236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700" smtClean="0">
                <a:solidFill>
                  <a:srgbClr val="FFFFFF"/>
                </a:solidFill>
                <a:latin typeface="Calibri" panose="020F0502020204030204" pitchFamily="34" charset="0"/>
              </a:rPr>
              <a:t>Mettre à jour la documentation écrite avec le format de trame réel et le CRC-8.</a:t>
            </a:r>
            <a:endParaRPr lang="fr-FR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609600" y="4953000"/>
            <a:ext cx="508000" cy="508000"/>
          </a:xfrm>
          <a:prstGeom prst="ellipse">
            <a:avLst/>
          </a:prstGeom>
          <a:solidFill>
            <a:srgbClr val="FFD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/>
          <p:cNvSpPr txBox="1"/>
          <p:nvPr/>
        </p:nvSpPr>
        <p:spPr>
          <a:xfrm>
            <a:off x="609600" y="5041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fr-FR" b="1" smtClean="0">
                <a:solidFill>
                  <a:srgbClr val="1F2D2E"/>
                </a:solidFill>
                <a:latin typeface="Calibri" panose="020F0502020204030204" pitchFamily="34" charset="0"/>
              </a:rPr>
              <a:t>5</a:t>
            </a:r>
            <a:endParaRPr lang="fr-FR" b="1">
              <a:solidFill>
                <a:srgbClr val="1F2D2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1346200" y="5054600"/>
            <a:ext cx="10236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700" smtClean="0">
                <a:solidFill>
                  <a:srgbClr val="FFFFFF"/>
                </a:solidFill>
                <a:latin typeface="Calibri" panose="020F0502020204030204" pitchFamily="34" charset="0"/>
              </a:rPr>
              <a:t>Verrouiller le journal après le snapshot et regrouper les indicateurs du tableau de bord.</a:t>
            </a:r>
            <a:endParaRPr lang="fr-FR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0284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881</Words>
  <Application>Microsoft Office PowerPoint</Application>
  <PresentationFormat>Personnalisé</PresentationFormat>
  <Paragraphs>115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Courier New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Compte Microsoft</dc:creator>
  <cp:lastModifiedBy>Compte Microsoft</cp:lastModifiedBy>
  <cp:revision>1</cp:revision>
  <dcterms:created xsi:type="dcterms:W3CDTF">2026-10-08T10:47:37Z</dcterms:created>
  <dcterms:modified xsi:type="dcterms:W3CDTF">2026-10-08T10:47:37Z</dcterms:modified>
</cp:coreProperties>
</file>